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开场：说明这是项目第一次会议，目标是统一想法、认清问题、为节后分组做准备。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过一遍议程，强调最后一项：今天要为分组做铺垫。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树莓派5是核心；强调扩展便宜，鼓励大家提设备需求。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核心一句话：寝室外访问寝室内的控制能力。软路由负责连接，控制中心负责功能。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三个例子抛砖引玉，重点是鼓励大家大胆提想法，现阶段不设限。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逐条说明问题背景；右侧只是初步方向，欢迎大家提出更好的方案。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布置两个思考题；预告两组分工，感兴趣的方向可以开始留意。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答疑时间；提醒国庆快乐、节后短会时间另行通知。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37360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5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 · 项目启动会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6583680" cy="1965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7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树莓派软路由</a:t>
            </a:r>
            <a:endParaRPr lang="en-US" sz="5400" dirty="0"/>
          </a:p>
          <a:p>
            <a:pPr marL="0" indent="0">
              <a:lnSpc>
                <a:spcPts val="7800"/>
              </a:lnSpc>
              <a:buNone/>
            </a:pPr>
            <a:r>
              <a:rPr lang="en-US" sz="5400" b="1" dirty="0">
                <a:solidFill>
                  <a:srgbClr val="E85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＋ </a:t>
            </a: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控制中心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77240" y="434340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A9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用一块树莓派 5，把整个寝室连起来、管起来。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5806440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2026.09.29 · Raspberry-Router 项目组 · 第一次会议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55280" y="123444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2B2133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47888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8" name="Shape 6"/>
          <p:cNvSpPr/>
          <p:nvPr/>
        </p:nvSpPr>
        <p:spPr>
          <a:xfrm>
            <a:off x="8439912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9" name="Shape 7"/>
          <p:cNvSpPr/>
          <p:nvPr/>
        </p:nvSpPr>
        <p:spPr>
          <a:xfrm>
            <a:off x="8631936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0" name="Shape 8"/>
          <p:cNvSpPr/>
          <p:nvPr/>
        </p:nvSpPr>
        <p:spPr>
          <a:xfrm>
            <a:off x="8823960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1" name="Shape 9"/>
          <p:cNvSpPr/>
          <p:nvPr/>
        </p:nvSpPr>
        <p:spPr>
          <a:xfrm>
            <a:off x="9015984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2" name="Shape 10"/>
          <p:cNvSpPr/>
          <p:nvPr/>
        </p:nvSpPr>
        <p:spPr>
          <a:xfrm>
            <a:off x="9208008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3" name="Shape 11"/>
          <p:cNvSpPr/>
          <p:nvPr/>
        </p:nvSpPr>
        <p:spPr>
          <a:xfrm>
            <a:off x="9400032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4" name="Shape 12"/>
          <p:cNvSpPr/>
          <p:nvPr/>
        </p:nvSpPr>
        <p:spPr>
          <a:xfrm>
            <a:off x="9592056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5" name="Shape 13"/>
          <p:cNvSpPr/>
          <p:nvPr/>
        </p:nvSpPr>
        <p:spPr>
          <a:xfrm>
            <a:off x="9784080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6" name="Shape 14"/>
          <p:cNvSpPr/>
          <p:nvPr/>
        </p:nvSpPr>
        <p:spPr>
          <a:xfrm>
            <a:off x="9976104" y="1453896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7" name="Shape 15"/>
          <p:cNvSpPr/>
          <p:nvPr/>
        </p:nvSpPr>
        <p:spPr>
          <a:xfrm>
            <a:off x="8247888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8" name="Shape 16"/>
          <p:cNvSpPr/>
          <p:nvPr/>
        </p:nvSpPr>
        <p:spPr>
          <a:xfrm>
            <a:off x="8439912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9" name="Shape 17"/>
          <p:cNvSpPr/>
          <p:nvPr/>
        </p:nvSpPr>
        <p:spPr>
          <a:xfrm>
            <a:off x="8631936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0" name="Shape 18"/>
          <p:cNvSpPr/>
          <p:nvPr/>
        </p:nvSpPr>
        <p:spPr>
          <a:xfrm>
            <a:off x="8823960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1" name="Shape 19"/>
          <p:cNvSpPr/>
          <p:nvPr/>
        </p:nvSpPr>
        <p:spPr>
          <a:xfrm>
            <a:off x="9015984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2" name="Shape 20"/>
          <p:cNvSpPr/>
          <p:nvPr/>
        </p:nvSpPr>
        <p:spPr>
          <a:xfrm>
            <a:off x="9208008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3" name="Shape 21"/>
          <p:cNvSpPr/>
          <p:nvPr/>
        </p:nvSpPr>
        <p:spPr>
          <a:xfrm>
            <a:off x="9400032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4" name="Shape 22"/>
          <p:cNvSpPr/>
          <p:nvPr/>
        </p:nvSpPr>
        <p:spPr>
          <a:xfrm>
            <a:off x="9592056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5" name="Shape 23"/>
          <p:cNvSpPr/>
          <p:nvPr/>
        </p:nvSpPr>
        <p:spPr>
          <a:xfrm>
            <a:off x="9784080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6" name="Shape 24"/>
          <p:cNvSpPr/>
          <p:nvPr/>
        </p:nvSpPr>
        <p:spPr>
          <a:xfrm>
            <a:off x="9976104" y="1581912"/>
            <a:ext cx="59436" cy="59436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7" name="Shape 25"/>
          <p:cNvSpPr/>
          <p:nvPr/>
        </p:nvSpPr>
        <p:spPr>
          <a:xfrm>
            <a:off x="8869680" y="2011680"/>
            <a:ext cx="1828800" cy="1828800"/>
          </a:xfrm>
          <a:prstGeom prst="roundRect">
            <a:avLst>
              <a:gd name="adj" fmla="val 3500"/>
            </a:avLst>
          </a:prstGeom>
          <a:solidFill>
            <a:srgbClr val="C51A4A"/>
          </a:solidFill>
        </p:spPr>
      </p:sp>
      <p:sp>
        <p:nvSpPr>
          <p:cNvPr id="28" name="Text 26"/>
          <p:cNvSpPr/>
          <p:nvPr/>
        </p:nvSpPr>
        <p:spPr>
          <a:xfrm>
            <a:off x="8869680" y="201168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 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458200" y="4023360"/>
            <a:ext cx="2651760" cy="402336"/>
          </a:xfrm>
          <a:prstGeom prst="roundRect">
            <a:avLst>
              <a:gd name="adj" fmla="val 11364"/>
            </a:avLst>
          </a:prstGeom>
          <a:solidFill>
            <a:srgbClr val="3A2C44"/>
          </a:solidFill>
          <a:ln w="9525">
            <a:solidFill>
              <a:srgbClr val="4A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4023360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0E9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红外发射模块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458200" y="4498848"/>
            <a:ext cx="2651760" cy="402336"/>
          </a:xfrm>
          <a:prstGeom prst="roundRect">
            <a:avLst>
              <a:gd name="adj" fmla="val 11364"/>
            </a:avLst>
          </a:prstGeom>
          <a:solidFill>
            <a:srgbClr val="3A2C44"/>
          </a:solidFill>
          <a:ln w="9525">
            <a:solidFill>
              <a:srgbClr val="4A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4498848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0E9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语音控制模块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58200" y="4974336"/>
            <a:ext cx="2651760" cy="402336"/>
          </a:xfrm>
          <a:prstGeom prst="roundRect">
            <a:avLst>
              <a:gd name="adj" fmla="val 11364"/>
            </a:avLst>
          </a:prstGeom>
          <a:solidFill>
            <a:srgbClr val="2B2133"/>
          </a:solidFill>
          <a:ln w="12700">
            <a:solidFill>
              <a:srgbClr val="4A3A5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458200" y="4974336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更多模块 …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43800" y="2194560"/>
            <a:ext cx="411480" cy="0"/>
          </a:xfrm>
          <a:prstGeom prst="line">
            <a:avLst/>
          </a:prstGeom>
          <a:noFill/>
          <a:ln w="15875">
            <a:solidFill>
              <a:srgbClr val="4A3A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52360" y="2148840"/>
            <a:ext cx="91440" cy="91440"/>
          </a:xfrm>
          <a:prstGeom prst="ellipse">
            <a:avLst/>
          </a:prstGeom>
          <a:solidFill>
            <a:srgbClr val="6B4A5C"/>
          </a:solidFill>
        </p:spPr>
      </p:sp>
      <p:sp>
        <p:nvSpPr>
          <p:cNvPr id="37" name="Shape 35"/>
          <p:cNvSpPr/>
          <p:nvPr/>
        </p:nvSpPr>
        <p:spPr>
          <a:xfrm>
            <a:off x="7543800" y="3246120"/>
            <a:ext cx="411480" cy="0"/>
          </a:xfrm>
          <a:prstGeom prst="line">
            <a:avLst/>
          </a:prstGeom>
          <a:noFill/>
          <a:ln w="15875">
            <a:solidFill>
              <a:srgbClr val="4A3A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3200400"/>
            <a:ext cx="91440" cy="91440"/>
          </a:xfrm>
          <a:prstGeom prst="ellipse">
            <a:avLst/>
          </a:prstGeom>
          <a:solidFill>
            <a:srgbClr val="6B4A5C"/>
          </a:solidFill>
        </p:spPr>
      </p:sp>
      <p:sp>
        <p:nvSpPr>
          <p:cNvPr id="39" name="Text 37"/>
          <p:cNvSpPr/>
          <p:nvPr/>
        </p:nvSpPr>
        <p:spPr>
          <a:xfrm>
            <a:off x="7955280" y="55046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一块板子的无数种可能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议程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今天要聊的四件事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64792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173736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现有设备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554480" y="214884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盘点我们手里已经有什么牌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694944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43784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2816352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核心想法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554480" y="3227832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软路由 ＋ 控制中心，一个盒子两种身份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694944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22776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38953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实际问题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554480" y="4306824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挡在路上的三件事，先摆出来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694944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001768"/>
            <a:ext cx="868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4974336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之后的打算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554480" y="5385816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国庆作业与节后分组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55280" y="1554480"/>
            <a:ext cx="3685032" cy="4480560"/>
          </a:xfrm>
          <a:prstGeom prst="roundRect">
            <a:avLst>
              <a:gd name="adj" fmla="val 2481"/>
            </a:avLst>
          </a:prstGeom>
          <a:solidFill>
            <a:srgbClr val="1B141F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187452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E85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今天的目标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75320" y="2478024"/>
            <a:ext cx="91440" cy="91440"/>
          </a:xfrm>
          <a:prstGeom prst="rect">
            <a:avLst/>
          </a:prstGeom>
          <a:solidFill>
            <a:srgbClr val="E8577F"/>
          </a:solidFill>
        </p:spPr>
      </p:sp>
      <p:sp>
        <p:nvSpPr>
          <p:cNvPr id="22" name="Text 20"/>
          <p:cNvSpPr/>
          <p:nvPr/>
        </p:nvSpPr>
        <p:spPr>
          <a:xfrm>
            <a:off x="8503920" y="2350008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汇集想法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503920" y="26974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A9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每个人都提一提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75320" y="3410712"/>
            <a:ext cx="91440" cy="91440"/>
          </a:xfrm>
          <a:prstGeom prst="rect">
            <a:avLst/>
          </a:prstGeom>
          <a:solidFill>
            <a:srgbClr val="E8577F"/>
          </a:solidFill>
        </p:spPr>
      </p:sp>
      <p:sp>
        <p:nvSpPr>
          <p:cNvPr id="25" name="Text 23"/>
          <p:cNvSpPr/>
          <p:nvPr/>
        </p:nvSpPr>
        <p:spPr>
          <a:xfrm>
            <a:off x="8503920" y="3282696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正视问题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503920" y="363016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A9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把拦路的先摆出来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75320" y="4343400"/>
            <a:ext cx="91440" cy="91440"/>
          </a:xfrm>
          <a:prstGeom prst="rect">
            <a:avLst/>
          </a:prstGeom>
          <a:solidFill>
            <a:srgbClr val="E8577F"/>
          </a:solidFill>
        </p:spPr>
      </p:sp>
      <p:sp>
        <p:nvSpPr>
          <p:cNvPr id="28" name="Text 26"/>
          <p:cNvSpPr/>
          <p:nvPr/>
        </p:nvSpPr>
        <p:spPr>
          <a:xfrm>
            <a:off x="8503920" y="4215384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定下分工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503920" y="45628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A9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节后马上能开工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75320" y="534924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5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项目的方向，由在场的人一起决定。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树莓派软路由 · 第一次项目会议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155680" y="6455664"/>
            <a:ext cx="484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现有设备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我们手里的牌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 5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1911096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项目核心 · 全部想法的中枢 · 文档 pidoc.cn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55080" y="1627632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DCE4"/>
          </a:solidFill>
        </p:spPr>
      </p:sp>
      <p:sp>
        <p:nvSpPr>
          <p:cNvPr id="7" name="Text 5"/>
          <p:cNvSpPr/>
          <p:nvPr/>
        </p:nvSpPr>
        <p:spPr>
          <a:xfrm>
            <a:off x="6355080" y="1627632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658368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22576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触控显示屏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8640" y="2660904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本地交互的界面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37744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DCE4"/>
          </a:solidFill>
        </p:spPr>
      </p:sp>
      <p:sp>
        <p:nvSpPr>
          <p:cNvPr id="12" name="Text 10"/>
          <p:cNvSpPr/>
          <p:nvPr/>
        </p:nvSpPr>
        <p:spPr>
          <a:xfrm>
            <a:off x="6355080" y="2377440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658368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72384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Micro:Bit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8640" y="3410712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小巧传感器板 · 官网 microbit.org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127248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DCE4"/>
          </a:solidFill>
        </p:spPr>
      </p:sp>
      <p:sp>
        <p:nvSpPr>
          <p:cNvPr id="17" name="Text 15"/>
          <p:cNvSpPr/>
          <p:nvPr/>
        </p:nvSpPr>
        <p:spPr>
          <a:xfrm>
            <a:off x="6355080" y="3127248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658368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22192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语音控制模块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语音输入的入口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877056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DCE4"/>
          </a:solidFill>
        </p:spPr>
      </p:sp>
      <p:sp>
        <p:nvSpPr>
          <p:cNvPr id="22" name="Text 20"/>
          <p:cNvSpPr/>
          <p:nvPr/>
        </p:nvSpPr>
        <p:spPr>
          <a:xfrm>
            <a:off x="6355080" y="3877056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535424"/>
            <a:ext cx="658368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48640" y="4910328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可动的机械结构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626864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DCE4"/>
          </a:solidFill>
        </p:spPr>
      </p:sp>
      <p:sp>
        <p:nvSpPr>
          <p:cNvPr id="27" name="Text 25"/>
          <p:cNvSpPr/>
          <p:nvPr/>
        </p:nvSpPr>
        <p:spPr>
          <a:xfrm>
            <a:off x="6355080" y="4626864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6583680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321808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VPS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548640" y="5660136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公网入口 · 远程连接的跳板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55080" y="5376672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F4DCE4"/>
          </a:solidFill>
        </p:spPr>
      </p:sp>
      <p:sp>
        <p:nvSpPr>
          <p:cNvPr id="32" name="Text 30"/>
          <p:cNvSpPr/>
          <p:nvPr/>
        </p:nvSpPr>
        <p:spPr>
          <a:xfrm>
            <a:off x="6355080" y="5376672"/>
            <a:ext cx="777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35240" y="1572768"/>
            <a:ext cx="3977640" cy="4434840"/>
          </a:xfrm>
          <a:prstGeom prst="roundRect">
            <a:avLst>
              <a:gd name="adj" fmla="val 2299"/>
            </a:avLst>
          </a:prstGeom>
          <a:solidFill>
            <a:srgbClr val="F7F2F5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55280" y="187452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扩展性才是真正的富矿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955280" y="2331720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得益于树莓派强大的扩展性，外设模块价格并不昂贵——想到什么，就能加上什么。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955280" y="3401568"/>
            <a:ext cx="3337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</p:spPr>
      </p:sp>
      <p:sp>
        <p:nvSpPr>
          <p:cNvPr id="37" name="Shape 35"/>
          <p:cNvSpPr/>
          <p:nvPr/>
        </p:nvSpPr>
        <p:spPr>
          <a:xfrm>
            <a:off x="8183880" y="3575304"/>
            <a:ext cx="109728" cy="109728"/>
          </a:xfrm>
          <a:prstGeom prst="ellipse">
            <a:avLst/>
          </a:prstGeom>
          <a:solidFill>
            <a:srgbClr val="C51A4A"/>
          </a:solidFill>
        </p:spPr>
      </p:sp>
      <p:sp>
        <p:nvSpPr>
          <p:cNvPr id="38" name="Text 36"/>
          <p:cNvSpPr/>
          <p:nvPr/>
        </p:nvSpPr>
        <p:spPr>
          <a:xfrm>
            <a:off x="8412480" y="340156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红外发射模块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955280" y="3968496"/>
            <a:ext cx="3337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</p:spPr>
      </p:sp>
      <p:sp>
        <p:nvSpPr>
          <p:cNvPr id="40" name="Shape 38"/>
          <p:cNvSpPr/>
          <p:nvPr/>
        </p:nvSpPr>
        <p:spPr>
          <a:xfrm>
            <a:off x="8183880" y="4142232"/>
            <a:ext cx="109728" cy="109728"/>
          </a:xfrm>
          <a:prstGeom prst="ellipse">
            <a:avLst/>
          </a:prstGeom>
          <a:solidFill>
            <a:srgbClr val="C51A4A"/>
          </a:solidFill>
        </p:spPr>
      </p:sp>
      <p:sp>
        <p:nvSpPr>
          <p:cNvPr id="41" name="Text 39"/>
          <p:cNvSpPr/>
          <p:nvPr/>
        </p:nvSpPr>
        <p:spPr>
          <a:xfrm>
            <a:off x="8412480" y="396849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温度监测模块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955280" y="45720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几十元级别 · 随买随加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55280" y="502920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有想法随时提——不花大家的钱。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树莓派软路由 · 第一次项目会议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155680" y="6455664"/>
            <a:ext cx="484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核心想法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软路由 ＋ 控制中心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最开始只想做远程电脑控制——但那样太浪费它的性能了。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寝室外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0" y="23591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公网链路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0" y="23591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寝室内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7F2F5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04495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 / 电脑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77240" y="3502152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浏览器或 App 远程访问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34640" y="3474720"/>
            <a:ext cx="822960" cy="0"/>
          </a:xfrm>
          <a:prstGeom prst="line">
            <a:avLst/>
          </a:prstGeom>
          <a:noFill/>
          <a:ln w="22225">
            <a:solidFill>
              <a:srgbClr val="A79F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26974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A79FB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840480" y="304495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互联网 / VPS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840480" y="350215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公网跳板 · 内网穿透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760720" y="3474720"/>
            <a:ext cx="822960" cy="0"/>
          </a:xfrm>
          <a:prstGeom prst="line">
            <a:avLst/>
          </a:prstGeom>
          <a:noFill/>
          <a:ln w="22225">
            <a:solidFill>
              <a:srgbClr val="A79F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0" y="26974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B141F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304495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 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12280" y="350215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软路由 · 控制中心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1120" y="3474720"/>
            <a:ext cx="502920" cy="0"/>
          </a:xfrm>
          <a:prstGeom prst="line">
            <a:avLst/>
          </a:prstGeom>
          <a:noFill/>
          <a:ln w="22225">
            <a:solidFill>
              <a:srgbClr val="A79F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40" y="269748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9E4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834640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它能控制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92640" y="322783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空调 · 红外开关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92640" y="355701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灯光 · 语音控制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92640" y="388620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 · 传感器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12188952" cy="1051560"/>
          </a:xfrm>
          <a:prstGeom prst="rect">
            <a:avLst/>
          </a:prstGeom>
          <a:solidFill>
            <a:srgbClr val="F7F2F5"/>
          </a:solidFill>
        </p:spPr>
      </p:sp>
      <p:sp>
        <p:nvSpPr>
          <p:cNvPr id="26" name="Text 24"/>
          <p:cNvSpPr/>
          <p:nvPr/>
        </p:nvSpPr>
        <p:spPr>
          <a:xfrm>
            <a:off x="640080" y="5193792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我们真正要做的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788920" y="5175504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在寝室外，访问并控制寝室内的一切。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树莓派软路由 · 第一次项目会议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484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应用场景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先想得到的三个场景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这些都能从一块树莓派长出来——欢迎大家继续往上加。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F7F2F5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远程开关空调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64992"/>
            <a:ext cx="2971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装上红外发射模块，走在回寝室的路上，就能先把空调打开。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53128" y="187452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F7F2F5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210312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73168" y="28803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一句话控灯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73168" y="3364992"/>
            <a:ext cx="2971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接上语音控制模块，说句话就能开灯、关灯，不用摸开关。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57616" y="1874520"/>
            <a:ext cx="3593592" cy="2880360"/>
          </a:xfrm>
          <a:prstGeom prst="roundRect">
            <a:avLst>
              <a:gd name="adj" fmla="val 3175"/>
            </a:avLst>
          </a:prstGeom>
          <a:solidFill>
            <a:srgbClr val="F7F2F5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77656" y="2103120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77656" y="28803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远程真机开发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77656" y="3364992"/>
            <a:ext cx="2971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写代码要在真机上测？远程连上树莓派就能跑，一台当一台用。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28016" cy="128016"/>
          </a:xfrm>
          <a:prstGeom prst="rect">
            <a:avLst/>
          </a:prstGeom>
          <a:solidFill>
            <a:srgbClr val="C51A4A"/>
          </a:solidFill>
        </p:spPr>
      </p:sp>
      <p:sp>
        <p:nvSpPr>
          <p:cNvPr id="18" name="Text 16"/>
          <p:cNvSpPr/>
          <p:nvPr/>
        </p:nvSpPr>
        <p:spPr>
          <a:xfrm>
            <a:off x="804672" y="513892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现在的阶段，就是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71800" y="5138928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大胆提出各位的想法——剩下的交给我来想怎么实现。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树莓派软路由 · 第一次项目会议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484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实际问题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挡在路上的三个问题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我先想到这些，解法大家一起讨论。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1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1810512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断电就全下线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2212848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寝室断电后一切服务暂停，怎么做到持久供电？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0" y="188366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可能的方向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2157984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UPS / 移动电源方案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11091672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1868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1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186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外面连不进来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3511296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校园网是内网，寝室外直接访问不到树莓派。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55280" y="318211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可能的方向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345643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内网穿透 / VPS 中转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11091672" cy="0"/>
          </a:xfrm>
          <a:prstGeom prst="line">
            <a:avLst/>
          </a:prstGeom>
          <a:noFill/>
          <a:ln w="9525">
            <a:solidFill>
              <a:srgbClr val="E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17136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1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171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280160" y="440740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一台树莓派不够分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80160" y="4809744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很多同学都要真机测试代码，硬件怎么共享？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955280" y="448056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可能的方向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4754880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集中时段 · 线下协调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树莓派软路由 · 第一次项目会议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484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之后的打算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国庆</a:t>
            </a:r>
            <a:r>
              <a:rPr lang="zh-CN" alt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之后的</a:t>
            </a:r>
            <a:r>
              <a:rPr lang="en-US" sz="30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分组预告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假期只想请大家想两件事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212140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这个项目，你还有什么有创意的想法？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1A4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99008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你对项目的哪一方面更感兴趣？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393192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不占用假期做任务——带着答案来，节后短会一起讨论。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1572768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节后分组预告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20116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7F2F5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304288"/>
            <a:ext cx="109728" cy="109728"/>
          </a:xfrm>
          <a:prstGeom prst="rect">
            <a:avLst/>
          </a:prstGeom>
          <a:solidFill>
            <a:srgbClr val="C51A4A"/>
          </a:solidFill>
        </p:spPr>
      </p:sp>
      <p:sp>
        <p:nvSpPr>
          <p:cNvPr id="13" name="Text 11"/>
          <p:cNvSpPr/>
          <p:nvPr/>
        </p:nvSpPr>
        <p:spPr>
          <a:xfrm>
            <a:off x="6858000" y="2212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网络连接组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打通寝室内外：连接、内网穿透、远程访问。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79992" y="20116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F7F2F5"/>
          </a:solidFill>
          <a:effectLst>
            <a:outerShdw blurRad="88900" dist="25400" dir="5400000" algn="bl" rotWithShape="0">
              <a:srgbClr val="3A24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54312" y="2304288"/>
            <a:ext cx="109728" cy="109728"/>
          </a:xfrm>
          <a:prstGeom prst="rect">
            <a:avLst/>
          </a:prstGeom>
          <a:solidFill>
            <a:srgbClr val="C51A4A"/>
          </a:solidFill>
        </p:spPr>
      </p:sp>
      <p:sp>
        <p:nvSpPr>
          <p:cNvPr id="17" name="Text 15"/>
          <p:cNvSpPr/>
          <p:nvPr/>
        </p:nvSpPr>
        <p:spPr>
          <a:xfrm>
            <a:off x="9582912" y="221284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硬件适配组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54312" y="2743200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5E55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做实际功能：模块适配、语音、红外、舵机。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65960" y="5138928"/>
            <a:ext cx="3429000" cy="0"/>
          </a:xfrm>
          <a:prstGeom prst="line">
            <a:avLst/>
          </a:prstGeom>
          <a:noFill/>
          <a:ln w="22225">
            <a:solidFill>
              <a:srgbClr val="A79FB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63640" y="5138928"/>
            <a:ext cx="3429000" cy="0"/>
          </a:xfrm>
          <a:prstGeom prst="line">
            <a:avLst/>
          </a:prstGeom>
          <a:noFill/>
          <a:ln w="22225">
            <a:solidFill>
              <a:srgbClr val="A79FB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72184" y="5056632"/>
            <a:ext cx="164592" cy="164592"/>
          </a:xfrm>
          <a:prstGeom prst="ellipse">
            <a:avLst/>
          </a:prstGeom>
          <a:solidFill>
            <a:srgbClr val="C51A4A"/>
          </a:solidFill>
        </p:spPr>
      </p:sp>
      <p:sp>
        <p:nvSpPr>
          <p:cNvPr id="22" name="Text 20"/>
          <p:cNvSpPr/>
          <p:nvPr/>
        </p:nvSpPr>
        <p:spPr>
          <a:xfrm>
            <a:off x="182880" y="53766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82880" y="57058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提想法 · 提问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769864" y="5056632"/>
            <a:ext cx="164592" cy="164592"/>
          </a:xfrm>
          <a:prstGeom prst="ellipse">
            <a:avLst/>
          </a:prstGeom>
          <a:solidFill>
            <a:srgbClr val="C51A4A"/>
          </a:solidFill>
        </p:spPr>
      </p:sp>
      <p:sp>
        <p:nvSpPr>
          <p:cNvPr id="25" name="Text 23"/>
          <p:cNvSpPr/>
          <p:nvPr/>
        </p:nvSpPr>
        <p:spPr>
          <a:xfrm>
            <a:off x="4480560" y="53766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国庆假期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480560" y="57058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 · 好好休息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067544" y="5056632"/>
            <a:ext cx="164592" cy="164592"/>
          </a:xfrm>
          <a:prstGeom prst="ellipse">
            <a:avLst/>
          </a:prstGeom>
          <a:solidFill>
            <a:srgbClr val="C51A4A"/>
          </a:solidFill>
        </p:spPr>
      </p:sp>
      <p:sp>
        <p:nvSpPr>
          <p:cNvPr id="28" name="Text 26"/>
          <p:cNvSpPr/>
          <p:nvPr/>
        </p:nvSpPr>
        <p:spPr>
          <a:xfrm>
            <a:off x="8778240" y="53766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71F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节后短会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778240" y="57058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84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集思广益 · 分组开工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树莓派软路由 · 第一次项目会议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0" y="6455664"/>
            <a:ext cx="4846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24028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E85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65176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有问题，现在就提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7033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A9B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想法、疑问、顾虑，现在说出来才来得及讨论。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461772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祝大家国庆假期快乐。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5897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Raspberry-Router · 2026.09.29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321040" y="1828800"/>
            <a:ext cx="2852928" cy="3245206"/>
          </a:xfrm>
          <a:prstGeom prst="roundRect">
            <a:avLst>
              <a:gd name="adj" fmla="val 2500"/>
            </a:avLst>
          </a:prstGeom>
          <a:solidFill>
            <a:srgbClr val="2B2133"/>
          </a:solidFill>
          <a:ln w="12700">
            <a:solidFill>
              <a:srgbClr val="4A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274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9" name="Shape 7"/>
          <p:cNvSpPr/>
          <p:nvPr/>
        </p:nvSpPr>
        <p:spPr>
          <a:xfrm>
            <a:off x="8699053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0" name="Shape 8"/>
          <p:cNvSpPr/>
          <p:nvPr/>
        </p:nvSpPr>
        <p:spPr>
          <a:xfrm>
            <a:off x="8848832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1" name="Shape 9"/>
          <p:cNvSpPr/>
          <p:nvPr/>
        </p:nvSpPr>
        <p:spPr>
          <a:xfrm>
            <a:off x="8998610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2" name="Shape 10"/>
          <p:cNvSpPr/>
          <p:nvPr/>
        </p:nvSpPr>
        <p:spPr>
          <a:xfrm>
            <a:off x="9148389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3" name="Shape 11"/>
          <p:cNvSpPr/>
          <p:nvPr/>
        </p:nvSpPr>
        <p:spPr>
          <a:xfrm>
            <a:off x="9298168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4" name="Shape 12"/>
          <p:cNvSpPr/>
          <p:nvPr/>
        </p:nvSpPr>
        <p:spPr>
          <a:xfrm>
            <a:off x="9447947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5" name="Shape 13"/>
          <p:cNvSpPr/>
          <p:nvPr/>
        </p:nvSpPr>
        <p:spPr>
          <a:xfrm>
            <a:off x="9597725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6" name="Shape 14"/>
          <p:cNvSpPr/>
          <p:nvPr/>
        </p:nvSpPr>
        <p:spPr>
          <a:xfrm>
            <a:off x="9747504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7" name="Shape 15"/>
          <p:cNvSpPr/>
          <p:nvPr/>
        </p:nvSpPr>
        <p:spPr>
          <a:xfrm>
            <a:off x="9897283" y="1999976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8" name="Shape 16"/>
          <p:cNvSpPr/>
          <p:nvPr/>
        </p:nvSpPr>
        <p:spPr>
          <a:xfrm>
            <a:off x="8549274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19" name="Shape 17"/>
          <p:cNvSpPr/>
          <p:nvPr/>
        </p:nvSpPr>
        <p:spPr>
          <a:xfrm>
            <a:off x="8699053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0" name="Shape 18"/>
          <p:cNvSpPr/>
          <p:nvPr/>
        </p:nvSpPr>
        <p:spPr>
          <a:xfrm>
            <a:off x="8848832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1" name="Shape 19"/>
          <p:cNvSpPr/>
          <p:nvPr/>
        </p:nvSpPr>
        <p:spPr>
          <a:xfrm>
            <a:off x="8998610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2" name="Shape 20"/>
          <p:cNvSpPr/>
          <p:nvPr/>
        </p:nvSpPr>
        <p:spPr>
          <a:xfrm>
            <a:off x="9148389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3" name="Shape 21"/>
          <p:cNvSpPr/>
          <p:nvPr/>
        </p:nvSpPr>
        <p:spPr>
          <a:xfrm>
            <a:off x="9298168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4" name="Shape 22"/>
          <p:cNvSpPr/>
          <p:nvPr/>
        </p:nvSpPr>
        <p:spPr>
          <a:xfrm>
            <a:off x="9447947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5" name="Shape 23"/>
          <p:cNvSpPr/>
          <p:nvPr/>
        </p:nvSpPr>
        <p:spPr>
          <a:xfrm>
            <a:off x="9597725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6" name="Shape 24"/>
          <p:cNvSpPr/>
          <p:nvPr/>
        </p:nvSpPr>
        <p:spPr>
          <a:xfrm>
            <a:off x="9747504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7" name="Shape 25"/>
          <p:cNvSpPr/>
          <p:nvPr/>
        </p:nvSpPr>
        <p:spPr>
          <a:xfrm>
            <a:off x="9897283" y="2099828"/>
            <a:ext cx="46360" cy="46360"/>
          </a:xfrm>
          <a:prstGeom prst="rect">
            <a:avLst/>
          </a:prstGeom>
          <a:solidFill>
            <a:srgbClr val="6B4A5C"/>
          </a:solidFill>
        </p:spPr>
      </p:sp>
      <p:sp>
        <p:nvSpPr>
          <p:cNvPr id="28" name="Shape 26"/>
          <p:cNvSpPr/>
          <p:nvPr/>
        </p:nvSpPr>
        <p:spPr>
          <a:xfrm>
            <a:off x="9034272" y="2435047"/>
            <a:ext cx="1426464" cy="1426464"/>
          </a:xfrm>
          <a:prstGeom prst="roundRect">
            <a:avLst>
              <a:gd name="adj" fmla="val 3500"/>
            </a:avLst>
          </a:prstGeom>
          <a:solidFill>
            <a:srgbClr val="C51A4A"/>
          </a:solidFill>
        </p:spPr>
      </p:sp>
      <p:sp>
        <p:nvSpPr>
          <p:cNvPr id="29" name="Text 27"/>
          <p:cNvSpPr/>
          <p:nvPr/>
        </p:nvSpPr>
        <p:spPr>
          <a:xfrm>
            <a:off x="9034272" y="2435047"/>
            <a:ext cx="1426464" cy="1426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5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树莓派 5</a:t>
            </a:r>
            <a:endParaRPr lang="en-US" sz="1405" dirty="0"/>
          </a:p>
        </p:txBody>
      </p:sp>
      <p:sp>
        <p:nvSpPr>
          <p:cNvPr id="30" name="Shape 28"/>
          <p:cNvSpPr/>
          <p:nvPr/>
        </p:nvSpPr>
        <p:spPr>
          <a:xfrm>
            <a:off x="8713318" y="4004158"/>
            <a:ext cx="2068373" cy="313822"/>
          </a:xfrm>
          <a:prstGeom prst="roundRect">
            <a:avLst>
              <a:gd name="adj" fmla="val 11364"/>
            </a:avLst>
          </a:prstGeom>
          <a:solidFill>
            <a:srgbClr val="3A2C44"/>
          </a:solidFill>
          <a:ln w="9525">
            <a:solidFill>
              <a:srgbClr val="4A3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13318" y="4004158"/>
            <a:ext cx="2068373" cy="3138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F0E9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红外发射模块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8713318" y="4375038"/>
            <a:ext cx="2068373" cy="313822"/>
          </a:xfrm>
          <a:prstGeom prst="roundRect">
            <a:avLst>
              <a:gd name="adj" fmla="val 11364"/>
            </a:avLst>
          </a:prstGeom>
          <a:solidFill>
            <a:srgbClr val="3A2C44"/>
          </a:solidFill>
          <a:ln w="9525">
            <a:solidFill>
              <a:srgbClr val="4A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3318" y="4375038"/>
            <a:ext cx="2068373" cy="3138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F0E9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语音控制模块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8713318" y="4745919"/>
            <a:ext cx="2068373" cy="313822"/>
          </a:xfrm>
          <a:prstGeom prst="roundRect">
            <a:avLst>
              <a:gd name="adj" fmla="val 11364"/>
            </a:avLst>
          </a:prstGeom>
          <a:solidFill>
            <a:srgbClr val="2B2133"/>
          </a:solidFill>
          <a:ln w="12700">
            <a:solidFill>
              <a:srgbClr val="4A3A5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713318" y="4745919"/>
            <a:ext cx="2068373" cy="3138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5" dirty="0">
                <a:solidFill>
                  <a:srgbClr val="9A8F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更多模块 …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8000086" y="2577694"/>
            <a:ext cx="320954" cy="0"/>
          </a:xfrm>
          <a:prstGeom prst="line">
            <a:avLst/>
          </a:prstGeom>
          <a:noFill/>
          <a:ln w="15875">
            <a:solidFill>
              <a:srgbClr val="4A3A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28762" y="2542032"/>
            <a:ext cx="71323" cy="71323"/>
          </a:xfrm>
          <a:prstGeom prst="ellipse">
            <a:avLst/>
          </a:prstGeom>
          <a:solidFill>
            <a:srgbClr val="6B4A5C"/>
          </a:solidFill>
        </p:spPr>
      </p:sp>
      <p:sp>
        <p:nvSpPr>
          <p:cNvPr id="38" name="Shape 36"/>
          <p:cNvSpPr/>
          <p:nvPr/>
        </p:nvSpPr>
        <p:spPr>
          <a:xfrm>
            <a:off x="8000086" y="3397910"/>
            <a:ext cx="320954" cy="0"/>
          </a:xfrm>
          <a:prstGeom prst="line">
            <a:avLst/>
          </a:prstGeom>
          <a:noFill/>
          <a:ln w="15875">
            <a:solidFill>
              <a:srgbClr val="4A3A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28762" y="3362249"/>
            <a:ext cx="71323" cy="71323"/>
          </a:xfrm>
          <a:prstGeom prst="ellipse">
            <a:avLst/>
          </a:prstGeom>
          <a:solidFill>
            <a:srgbClr val="6B4A5C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1390</Words>
  <Application>WPS Presentation</Application>
  <PresentationFormat>On-screen Show (16:9)</PresentationFormat>
  <Paragraphs>295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DejaVu Sans</vt:lpstr>
      <vt:lpstr>微软雅黑</vt:lpstr>
      <vt:lpstr>Noto Sans CJK SC</vt:lpstr>
      <vt:lpstr>微软雅黑</vt:lpstr>
      <vt:lpstr>微软雅黑</vt:lpstr>
      <vt:lpstr>宋体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树莓派软路由项目 · 第一次会议</dc:title>
  <dc:creator>Raspberry-Router 项目组</dc:creator>
  <dc:subject>PptxGenJS Presentation</dc:subject>
  <cp:lastModifiedBy>l1rics</cp:lastModifiedBy>
  <cp:revision>2</cp:revision>
  <dcterms:created xsi:type="dcterms:W3CDTF">2026-09-29T06:32:58Z</dcterms:created>
  <dcterms:modified xsi:type="dcterms:W3CDTF">2026-09-29T06:32:58Z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6C5C28FA0452FEF1995BBB6A4104F936_42</vt:lpwstr>
  </property>
  <property fmtid="{D5CDD505-2E9C-101B-9397-08002B2CF9AE}" pid="3" name="KSOProductBuildVer">
    <vt:lpwstr>1033-12.1.2.28080</vt:lpwstr>
  </property>
</Properties>
</file>